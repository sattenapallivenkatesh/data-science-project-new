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layfair Display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38A01-9BDE-471B-B652-9E20D2145AEC}">
  <a:tblStyle styleId="{F2538A01-9BDE-471B-B652-9E20D2145A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 Sattenapalli" userId="4b435516e03b5dee" providerId="LiveId" clId="{D048FBB5-F2DD-4D5C-940E-02279D6505E8}"/>
    <pc:docChg chg="modSld">
      <pc:chgData name="Venkatesh Sattenapalli" userId="4b435516e03b5dee" providerId="LiveId" clId="{D048FBB5-F2DD-4D5C-940E-02279D6505E8}" dt="2025-11-28T16:18:30.664" v="23" actId="368"/>
      <pc:docMkLst>
        <pc:docMk/>
      </pc:docMkLst>
      <pc:sldChg chg="modSp mod">
        <pc:chgData name="Venkatesh Sattenapalli" userId="4b435516e03b5dee" providerId="LiveId" clId="{D048FBB5-F2DD-4D5C-940E-02279D6505E8}" dt="2025-11-28T16:18:30.664" v="23" actId="368"/>
        <pc:sldMkLst>
          <pc:docMk/>
          <pc:sldMk cId="0" sldId="256"/>
        </pc:sldMkLst>
        <pc:spChg chg="mod">
          <ac:chgData name="Venkatesh Sattenapalli" userId="4b435516e03b5dee" providerId="LiveId" clId="{D048FBB5-F2DD-4D5C-940E-02279D6505E8}" dt="2025-11-28T16:18:30.664" v="23" actId="368"/>
          <ac:spMkLst>
            <pc:docMk/>
            <pc:sldMk cId="0" sldId="256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ttenapalliVenkatesh/Data-Science-Project-New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6425" y="1350615"/>
            <a:ext cx="84391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6425" y="4621410"/>
            <a:ext cx="84391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65446" y="2455515"/>
            <a:ext cx="886110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Predicting Divorce Likelihood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65446" y="3360390"/>
            <a:ext cx="886110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Using Socio-Behavioral Data &amp; Machine Learning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76425" y="3874740"/>
            <a:ext cx="8439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7PAM2002 Data Science 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76425" y="5011935"/>
            <a:ext cx="8439150" cy="14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Student ID: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23030670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NAME :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SATTENAPALLI VENKATESH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Semester B 2025/2026</a:t>
            </a:r>
          </a:p>
          <a:p>
            <a:pPr lvl="0" algn="ctr">
              <a:lnSpc>
                <a:spcPct val="160000"/>
              </a:lnSpc>
            </a:pPr>
            <a:r>
              <a:rPr lang="en-US" b="1" dirty="0" err="1"/>
              <a:t>Github</a:t>
            </a:r>
            <a:r>
              <a:rPr lang="en-US" b="1" dirty="0"/>
              <a:t> Link </a:t>
            </a:r>
            <a:r>
              <a:rPr lang="en-US" b="1" dirty="0">
                <a:hlinkClick r:id="rId6"/>
              </a:rPr>
              <a:t>: </a:t>
            </a:r>
            <a:r>
              <a:rPr lang="en-US" dirty="0">
                <a:hlinkClick r:id="rId6"/>
              </a:rPr>
              <a:t>https://github.com/SattenapalliVenkatesh/Data-Science-Project-New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5037"/>
            <a:ext cx="53340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05037"/>
            <a:ext cx="533400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2595562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Problem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138487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marital therapy relies heavily on subjective observation. There is a critical need for objective, data-driven tools that can identify at-risk couples early in their relationship.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54818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methods often intervene too late, when negative behavioral patterns have already solidified.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2595562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Aim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13848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develop a user-friendly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Machine Learning framework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that accurately predicts divorce probability based on the Gottman Couples Therapy Model.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446246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pinpointing specific conflict-resolution deficits, we can enable targeted, non-invasive coaching interventions.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527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5271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 &amp; Project Motivation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7437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7437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5074" y="2690812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94225" y="3338512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ML vs. Statistics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38814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what extent can Machine Learning models outperform traditional statistical approaches in predicting divorce outcomes?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2524" y="3338512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Drivers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5074" y="38814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Which communication and conflict-resolution attributes most strongly contribute to divorce prediction?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0824" y="3338512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 Balance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3374" y="38814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do data characteristics (balance/imbalance) impact the trade-off between false positives and false negatives?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9575" y="27289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7289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Questions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3587"/>
            <a:ext cx="53340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33587"/>
            <a:ext cx="53340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62025" y="2424112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Previous Findings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77025" y="2424112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Identified Gaps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77025" y="29670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Many existing studies suffer from limited generalizability due to small sample sizes or lack of rigorous external validation.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77025" y="40719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There is often a trade-off between model accuracy and practical interpretability for counselors.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62025" y="29289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Ahsan (2023):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SVM achieved ~99% accuracy on UCI data; highlighted importance of LIME for interpretability.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38433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Kumar et al. (2023):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Feature selection is key; Random Forest and MLP attained 100% on small subsets.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4757737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Moumen et al. (2024):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Partner knowledge sharing is a critical predictor in regional datasets.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956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9100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82441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Review Highlights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30575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UCI Machine Learning Repository (Dr. S. Yöntem).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3623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Participants: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170 Married Couples.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36671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54 Attributes based on the Gottman Model.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39719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Likert Scale (0-4), measuring frequency of feelings/behaviors.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5815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Binary Classification (0 = Married, 1 = Divorced).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24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290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338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386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6482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 Overview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15B8841-2021-4276-A15C-5027FF0B5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810" y="1924050"/>
            <a:ext cx="52387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1312"/>
            <a:ext cx="243066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3033712"/>
            <a:ext cx="243066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3033712"/>
            <a:ext cx="243066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3033712"/>
            <a:ext cx="243066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571500" y="4162425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720759" y="3081337"/>
            <a:ext cx="21321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Preprocessing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3529012"/>
            <a:ext cx="203061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cleaning, null check, and StandardScaler for distance-based algorithms.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3593440" y="3233737"/>
            <a:ext cx="21321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Splitting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3644205" y="3681412"/>
            <a:ext cx="203061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Stratified Shuffle Split (20 folds) to ensure robustness given small sample size.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466120" y="3233737"/>
            <a:ext cx="21321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Modeling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516885" y="3681412"/>
            <a:ext cx="203061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Logistic Regression, Random Forest, Decision Tree, Naïve Bayes, KNN.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338801" y="3233737"/>
            <a:ext cx="21321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389566" y="3681412"/>
            <a:ext cx="203061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ROC-AUC, Accuracy, Precision, Recall, and Monte-Carlo Cross Validation.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 Workflow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7350"/>
            <a:ext cx="110490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55340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dataset is perfectly balanced, eliminating the need for synthetic oversampling (SMOTE).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Exploratory Data Analysis: Class Balance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90675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1590675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Separation of Classes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1336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Box plots for the highest correlated features reveal a distinct lack of overlap between the two classes.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43434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visible separation explains why simple linear models perform so well.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29337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 0 (Married):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Consistently low scores (0-1) on negative attributes like "Break in Calm".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35433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 1 (Divorced):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Consistently high scores (3-4), indicating frequent conflict.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00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099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5048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Distribution Analysis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2253C8-2629-78A8-C42C-0E4464961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2071687"/>
            <a:ext cx="5095875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76812"/>
            <a:ext cx="11049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666750" y="205263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Break in Calm (0.94):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Frequent interruptions of calm during discussions.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286500" y="205263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Happiness Views (0.93):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Disagreement on what constitutes happiness.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66750" y="299561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Role Views (0.93):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Diverging beliefs about roles in the marriage.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286500" y="299561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Marriage Views (0.92):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Fundamental differences in the concept of marriage.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66750" y="39385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Future Harmony (0.92):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Pessimism regarding future peace.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286500" y="39385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Enjoy Traveling (0.91):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Lack of shared enjoyment in travel/leisure.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09625" y="535781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ability to maintain calm during conflict ("Break in Calm") is the single strongest indicator of relationship stability.</a:t>
            </a:r>
            <a:endParaRPr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119312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11931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3062287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0622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" y="400526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4005262"/>
            <a:ext cx="1333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 Predictors (Correlation Analysis)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7350"/>
            <a:ext cx="11049000" cy="462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22"/>
          <p:cNvGraphicFramePr/>
          <p:nvPr/>
        </p:nvGraphicFramePr>
        <p:xfrm>
          <a:off x="571500" y="1681162"/>
          <a:ext cx="11049000" cy="3590875"/>
        </p:xfrm>
        <a:graphic>
          <a:graphicData uri="http://schemas.openxmlformats.org/drawingml/2006/table">
            <a:tbl>
              <a:tblPr firstRow="1" bandRow="1">
                <a:noFill/>
                <a:tableStyleId>{F2538A01-9BDE-471B-B652-9E20D2145AEC}</a:tableStyleId>
              </a:tblPr>
              <a:tblGrid>
                <a:gridCol w="33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ROC 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Naïve Bayes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0.967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KNN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8" name="Google Shape;238;p22"/>
          <p:cNvSpPr/>
          <p:nvPr/>
        </p:nvSpPr>
        <p:spPr>
          <a:xfrm>
            <a:off x="571500" y="2857500"/>
            <a:ext cx="33892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960762" y="2857500"/>
            <a:ext cx="19826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943451" y="2857500"/>
            <a:ext cx="1931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875240" y="2857500"/>
            <a:ext cx="191482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9790062" y="2857500"/>
            <a:ext cx="18304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71500" y="3457575"/>
            <a:ext cx="33892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960762" y="3457575"/>
            <a:ext cx="19826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943451" y="3457575"/>
            <a:ext cx="1931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875240" y="3457575"/>
            <a:ext cx="191482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9790062" y="3457575"/>
            <a:ext cx="18304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71500" y="4057650"/>
            <a:ext cx="33892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960762" y="4057650"/>
            <a:ext cx="19826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943451" y="4057650"/>
            <a:ext cx="1931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875240" y="4057650"/>
            <a:ext cx="191482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9790062" y="4057650"/>
            <a:ext cx="18304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71500" y="4657725"/>
            <a:ext cx="33892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960762" y="4657725"/>
            <a:ext cx="19826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943451" y="4657725"/>
            <a:ext cx="1931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875240" y="4657725"/>
            <a:ext cx="191482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9790062" y="4657725"/>
            <a:ext cx="18304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71500" y="5257800"/>
            <a:ext cx="33892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960762" y="5257800"/>
            <a:ext cx="19826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943451" y="5257800"/>
            <a:ext cx="1931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875240" y="5257800"/>
            <a:ext cx="191482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9790062" y="5257800"/>
            <a:ext cx="18304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Performance Summary (Test Set)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3037"/>
            <a:ext cx="53816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95437"/>
            <a:ext cx="5381625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43037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595437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1" y="1392136"/>
            <a:ext cx="5286374" cy="383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1392136"/>
            <a:ext cx="5286375" cy="383857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571500" y="357187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Detailed Evaluation: Logistic Regression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71500" y="103346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1C570C-453C-34E8-F24C-11E3C33A5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49" y="1545478"/>
            <a:ext cx="4476750" cy="353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86FA67D-19C4-3045-D6DF-0F8C1B248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102" y="1545478"/>
            <a:ext cx="3889633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571500" y="2747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Results averaged over 20 Stratified Shuffle Splits to validate reliability.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5205412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Winner: Logistic Regression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435000" y="3433762"/>
            <a:ext cx="22444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0.999</a:t>
            </a:r>
            <a:endParaRPr dirty="0"/>
          </a:p>
        </p:txBody>
      </p:sp>
      <p:sp>
        <p:nvSpPr>
          <p:cNvPr id="286" name="Google Shape;286;p24"/>
          <p:cNvSpPr txBox="1"/>
          <p:nvPr/>
        </p:nvSpPr>
        <p:spPr>
          <a:xfrm>
            <a:off x="1435000" y="4548187"/>
            <a:ext cx="1952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Mean ROC AUC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5114775" y="3433762"/>
            <a:ext cx="22159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97.8%</a:t>
            </a:r>
            <a:endParaRPr dirty="0"/>
          </a:p>
        </p:txBody>
      </p:sp>
      <p:sp>
        <p:nvSpPr>
          <p:cNvPr id="288" name="Google Shape;288;p24"/>
          <p:cNvSpPr txBox="1"/>
          <p:nvPr/>
        </p:nvSpPr>
        <p:spPr>
          <a:xfrm>
            <a:off x="5114776" y="4548187"/>
            <a:ext cx="19240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Mean Accuracy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8765976" y="3433762"/>
            <a:ext cx="22159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0.001</a:t>
            </a:r>
            <a:endParaRPr dirty="0"/>
          </a:p>
        </p:txBody>
      </p:sp>
      <p:sp>
        <p:nvSpPr>
          <p:cNvPr id="290" name="Google Shape;290;p24"/>
          <p:cNvSpPr txBox="1"/>
          <p:nvPr/>
        </p:nvSpPr>
        <p:spPr>
          <a:xfrm>
            <a:off x="8765976" y="4548187"/>
            <a:ext cx="1990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Standard Deviation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Robustness Check: Monte-Carlo CV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571500" y="7620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Critical Insight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571500" y="1438275"/>
            <a:ext cx="4953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571500" y="1933575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"Break in Calm"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571500" y="26193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analysis reveals that the primary differentiator between divorced and married couples is not the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absence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conflict, but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regulation of emotion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during conflict.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571500" y="39147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Couples who can maintain composure and avoid escalating negativity ("Break in Calm") are statistically almost guaranteed to belong to the "Married" class.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571500" y="52101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validates the Gottman theory: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repair attempts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crucial.</a:t>
            </a:r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554B24-8090-A63E-2114-41BECEA6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571500" y="2028825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571500" y="25717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Machine Learning models significantly outperform baseline guessing, achieving near-perfect accuracy.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571500" y="33718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 models (Logistic Regression) perform as well as complex ones, suggesting the behavioral patterns of divorce are highly distinct.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571500" y="4572000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Work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571500" y="51149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 on datasets from different cultures (e.g., UK/US) to ensure generalizability beyond the Turkish cohort.</a:t>
            </a:r>
            <a:endParaRPr/>
          </a:p>
        </p:txBody>
      </p:sp>
      <p:pic>
        <p:nvPicPr>
          <p:cNvPr id="316" name="Google Shape;31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5" y="2114550"/>
            <a:ext cx="51435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859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291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&amp; Future Work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1E43BD3-9C22-6489-5FE9-40AE49A5B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54" y="2114550"/>
            <a:ext cx="52387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1190625" y="2440334"/>
            <a:ext cx="10048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Ahsan, M.M. (2023)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Divorce Prediction with Machine Learning: Insights and LIME Interpretability.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1190625" y="2905125"/>
            <a:ext cx="10048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Aimran, N. (2022)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Prediction of Malaysian Women Divorce Using Machine Learning Techniques.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Malaysian Journal of Computing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1190625" y="3369915"/>
            <a:ext cx="10048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Kumar, A., et al. (2023)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Prediction of the Probability of Divorce Using Machine Learning Algorithms.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International Journal of Engineering Technology and Management Sciences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1190625" y="4108995"/>
            <a:ext cx="10048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Moumen, A., et al. (2024)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Divorce prediction using machine learning algorithms in Ha’il region, KSA.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Scientific Reports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190625" y="4573785"/>
            <a:ext cx="10048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Sadiq Fareed, M.M., et al. (2022)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Predicting Divorce Prospect Using Ensemble Learning.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Computational Intelligence and Neuroscience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1190625" y="5038576"/>
            <a:ext cx="10048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Yöntem, M. K. (2019)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Divorce Predictors Scale Dataset.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UCI Machine Learning Repository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</a:t>
            </a:r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44033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905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3699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1089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57378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038576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3085623" y="1911697"/>
            <a:ext cx="6020752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Q&amp;A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3228975" y="3483322"/>
            <a:ext cx="57340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3228975" y="4351883"/>
            <a:ext cx="57340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Predicting Divorce Likelihood Using Socio-Behavioral Data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8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80"/>
          <p:cNvSpPr/>
          <p:nvPr/>
        </p:nvSpPr>
        <p:spPr>
          <a:xfrm>
            <a:off x="571500" y="34757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80"/>
          <p:cNvSpPr/>
          <p:nvPr/>
        </p:nvSpPr>
        <p:spPr>
          <a:xfrm>
            <a:off x="571500" y="42605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6" name="Google Shape;766;p8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9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0"/>
          <p:cNvSpPr txBox="1"/>
          <p:nvPr/>
        </p:nvSpPr>
        <p:spPr>
          <a:xfrm>
            <a:off x="1666875" y="28433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https://cdn.jotfor.ms/templates/screenshot/form-templates/couples-survey.png?v=2148174743&amp;t=classic</a:t>
            </a:r>
            <a:endParaRPr/>
          </a:p>
        </p:txBody>
      </p:sp>
      <p:sp>
        <p:nvSpPr>
          <p:cNvPr id="768" name="Google Shape;768;p80"/>
          <p:cNvSpPr txBox="1"/>
          <p:nvPr/>
        </p:nvSpPr>
        <p:spPr>
          <a:xfrm>
            <a:off x="1666875" y="30890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www.jotform.com</a:t>
            </a:r>
            <a:endParaRPr/>
          </a:p>
        </p:txBody>
      </p:sp>
      <p:pic>
        <p:nvPicPr>
          <p:cNvPr id="769" name="Google Shape;769;p8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4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80"/>
          <p:cNvSpPr txBox="1"/>
          <p:nvPr/>
        </p:nvSpPr>
        <p:spPr>
          <a:xfrm>
            <a:off x="1666875" y="362813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https://img.freepik.com/free-vector/flat-design-couple-arguing-silhouette_23-2150362414.jpg</a:t>
            </a:r>
            <a:endParaRPr/>
          </a:p>
        </p:txBody>
      </p:sp>
      <p:sp>
        <p:nvSpPr>
          <p:cNvPr id="771" name="Google Shape;771;p80"/>
          <p:cNvSpPr txBox="1"/>
          <p:nvPr/>
        </p:nvSpPr>
        <p:spPr>
          <a:xfrm>
            <a:off x="1666875" y="387384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freepik.com</a:t>
            </a:r>
            <a:endParaRPr/>
          </a:p>
        </p:txBody>
      </p:sp>
      <p:pic>
        <p:nvPicPr>
          <p:cNvPr id="772" name="Google Shape;772;p8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185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80"/>
          <p:cNvSpPr txBox="1"/>
          <p:nvPr/>
        </p:nvSpPr>
        <p:spPr>
          <a:xfrm>
            <a:off x="1666875" y="44129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https://media.istockphoto.com/id/879763336/photo/love-couple-walking-while-holding-hands.jpg?s=612x612&amp;w=0&amp;k=20&amp;c=b1Up-DVX6FZHiXfpgTzBcE_yxpljUJS3d4xTgNjUQMk=</a:t>
            </a:r>
            <a:endParaRPr/>
          </a:p>
        </p:txBody>
      </p:sp>
      <p:sp>
        <p:nvSpPr>
          <p:cNvPr id="774" name="Google Shape;774;p80"/>
          <p:cNvSpPr txBox="1"/>
          <p:nvPr/>
        </p:nvSpPr>
        <p:spPr>
          <a:xfrm>
            <a:off x="1666875" y="48567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775" name="Google Shape;775;p8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776" name="Google Shape;776;p80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1067</Words>
  <Application>Microsoft Office PowerPoint</Application>
  <PresentationFormat>Widescreen</PresentationFormat>
  <Paragraphs>129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Lato</vt:lpstr>
      <vt:lpstr>Playfair Display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VENKATESH SATTENAPALLI</dc:creator>
  <cp:lastModifiedBy>Venkatesh Sattenapalli</cp:lastModifiedBy>
  <cp:revision>9</cp:revision>
  <dcterms:modified xsi:type="dcterms:W3CDTF">2025-11-28T16:22:58Z</dcterms:modified>
</cp:coreProperties>
</file>